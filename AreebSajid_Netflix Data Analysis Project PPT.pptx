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45" r:id="rId7"/>
    <p:sldId id="302" r:id="rId8"/>
    <p:sldId id="347" r:id="rId9"/>
    <p:sldId id="346" r:id="rId10"/>
    <p:sldId id="339" r:id="rId11"/>
    <p:sldId id="340" r:id="rId12"/>
    <p:sldId id="341" r:id="rId13"/>
    <p:sldId id="344"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2581CA-019C-4BC5-96DD-F961A955FD94}">
          <p14:sldIdLst>
            <p14:sldId id="338"/>
            <p14:sldId id="327"/>
          </p14:sldIdLst>
        </p14:section>
        <p14:section name="Untitled Section" id="{F2749FCB-B329-4A1F-BB70-05BAB43A82C8}">
          <p14:sldIdLst>
            <p14:sldId id="345"/>
            <p14:sldId id="302"/>
            <p14:sldId id="347"/>
            <p14:sldId id="346"/>
            <p14:sldId id="339"/>
            <p14:sldId id="340"/>
            <p14:sldId id="341"/>
            <p14:sldId id="344"/>
            <p14:sldId id="342"/>
            <p14:sldId id="343"/>
            <p14:sldId id="304"/>
          </p14:sldIdLst>
        </p14:section>
      </p14:sectionLst>
    </p:ex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51" d="100"/>
          <a:sy n="51" d="100"/>
        </p:scale>
        <p:origin x="816" y="4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051685" y="2050553"/>
            <a:ext cx="6259906" cy="743448"/>
          </a:xfrm>
        </p:spPr>
        <p:txBody>
          <a:bodyPr>
            <a:normAutofit/>
          </a:bodyPr>
          <a:lstStyle/>
          <a:p>
            <a:r>
              <a:rPr lang="en-GB" sz="3200" dirty="0"/>
              <a:t>NETFLIX DATA ANALYSIS PROJECT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1">
            <a:extLst>
              <a:ext uri="{FF2B5EF4-FFF2-40B4-BE49-F238E27FC236}">
                <a16:creationId xmlns:a16="http://schemas.microsoft.com/office/drawing/2014/main" id="{7201737A-B873-4D1D-8A41-5ABF5184BC8F}"/>
              </a:ext>
            </a:extLst>
          </p:cNvPr>
          <p:cNvSpPr>
            <a:spLocks noGrp="1"/>
          </p:cNvSpPr>
          <p:nvPr/>
        </p:nvSpPr>
        <p:spPr>
          <a:xfrm>
            <a:off x="6400800" y="3968197"/>
            <a:ext cx="4481393" cy="861497"/>
          </a:xfrm>
          <a:prstGeom prst="rect">
            <a:avLst/>
          </a:prstGeom>
        </p:spPr>
        <p:txBody>
          <a:bodyPr vert="horz" lIns="91440" tIns="45720" rIns="91440" bIns="45720" rtlCol="0">
            <a:normAutofit fontScale="85000" lnSpcReduction="10000"/>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AREEB SAJID</a:t>
            </a:r>
          </a:p>
          <a:p>
            <a:pPr algn="r"/>
            <a:r>
              <a:rPr lang="en-IN" dirty="0"/>
              <a:t>INTERNSHIP_17546440516895be537820f </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10000"/>
          </a:bodyPr>
          <a:lstStyle/>
          <a:p>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lang="en-IN" dirty="0"/>
          </a:p>
          <a:p>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a:t>
            </a:r>
            <a:endParaRPr lang="en-IN"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2A2E-A60F-D7EC-D388-0172A22436AE}"/>
              </a:ext>
            </a:extLst>
          </p:cNvPr>
          <p:cNvSpPr>
            <a:spLocks noGrp="1"/>
          </p:cNvSpPr>
          <p:nvPr>
            <p:ph type="title"/>
          </p:nvPr>
        </p:nvSpPr>
        <p:spPr/>
        <p:txBody>
          <a:bodyPr/>
          <a:lstStyle/>
          <a:p>
            <a:r>
              <a:rPr lang="en-IN" dirty="0">
                <a:solidFill>
                  <a:schemeClr val="tx1"/>
                </a:solidFill>
              </a:rPr>
              <a:t>PROJECT DESCRIPTION</a:t>
            </a:r>
          </a:p>
        </p:txBody>
      </p:sp>
      <p:sp>
        <p:nvSpPr>
          <p:cNvPr id="3" name="Content Placeholder 2">
            <a:extLst>
              <a:ext uri="{FF2B5EF4-FFF2-40B4-BE49-F238E27FC236}">
                <a16:creationId xmlns:a16="http://schemas.microsoft.com/office/drawing/2014/main" id="{A0FF2A44-1F45-07B5-24D9-6D0E712A3848}"/>
              </a:ext>
            </a:extLst>
          </p:cNvPr>
          <p:cNvSpPr>
            <a:spLocks noGrp="1"/>
          </p:cNvSpPr>
          <p:nvPr>
            <p:ph sz="half" idx="1"/>
          </p:nvPr>
        </p:nvSpPr>
        <p:spPr>
          <a:xfrm>
            <a:off x="572403" y="1488614"/>
            <a:ext cx="11344777" cy="3880772"/>
          </a:xfrm>
        </p:spPr>
        <p:txBody>
          <a:bodyPr/>
          <a:lstStyle/>
          <a:p>
            <a:r>
              <a:rPr lang="en-US" sz="180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rPr>
              <a:t>The dataset under consideration is a Netflix dataset containing 7,789 records and 11 columns. It includes important details about Movies and TV Shows available on the platform. Key attributes include the title, director, cast, country of origin, release date, rating, duration, and type (genres). The dataset spans multiple years, with entries ranging from 2008 to 2021, covering content across diverse countries and genres.</a:t>
            </a:r>
            <a:endParaRPr lang="en-IN"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rPr>
              <a:t>Understanding Netflix’s content trends is crucial for making data-driven business decisions. The analysis not only highlights the balance between Movies and TV Shows but also reveals popular genres and underrepresented categories. For a platform that serves diverse international audiences, country-wise contributions provide valuable insights into global representation and market penetration. </a:t>
            </a:r>
            <a:endParaRPr lang="en-IN"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rPr>
              <a:t>By focusing on these content trends, Netflix can refine its strategy for content acquisition and production, ensuring that it caters to the right audience segments while staying competitive in the global OTT industry.</a:t>
            </a:r>
            <a:endParaRPr lang="en-IN"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solidFill>
                <a:schemeClr val="tx1"/>
              </a:solidFill>
            </a:endParaRPr>
          </a:p>
        </p:txBody>
      </p:sp>
      <p:sp>
        <p:nvSpPr>
          <p:cNvPr id="5" name="Slide Number Placeholder 4">
            <a:extLst>
              <a:ext uri="{FF2B5EF4-FFF2-40B4-BE49-F238E27FC236}">
                <a16:creationId xmlns:a16="http://schemas.microsoft.com/office/drawing/2014/main" id="{A38A439B-FCE9-4152-7FB0-DFBE37F2D929}"/>
              </a:ext>
            </a:extLst>
          </p:cNvPr>
          <p:cNvSpPr>
            <a:spLocks noGrp="1"/>
          </p:cNvSpPr>
          <p:nvPr>
            <p:ph type="sldNum" sz="quarter" idx="12"/>
          </p:nvPr>
        </p:nvSpPr>
        <p:spPr/>
        <p:txBody>
          <a:bodyPr/>
          <a:lstStyle/>
          <a:p>
            <a:fld id="{6FF9F0C5-380F-41C2-899A-BAC0F0927E16}" type="slidenum">
              <a:rPr lang="en-US" smtClean="0"/>
              <a:t>3</a:t>
            </a:fld>
            <a:endParaRPr lang="en-US" dirty="0"/>
          </a:p>
        </p:txBody>
      </p:sp>
    </p:spTree>
    <p:extLst>
      <p:ext uri="{BB962C8B-B14F-4D97-AF65-F5344CB8AC3E}">
        <p14:creationId xmlns:p14="http://schemas.microsoft.com/office/powerpoint/2010/main" val="135388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Python – Core programming language</a:t>
            </a:r>
          </a:p>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Pandas &amp; NumPy – Data cleaning and preprocessing</a:t>
            </a:r>
          </a:p>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Scikit-learn – Machine learning (model training, regression, evaluation)</a:t>
            </a:r>
          </a:p>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Matplotlib/Seaborn– Data visualization and feature importance</a:t>
            </a:r>
          </a:p>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Google </a:t>
            </a:r>
            <a:r>
              <a:rPr lang="en-US" altLang="en-US" sz="1800" dirty="0" err="1">
                <a:solidFill>
                  <a:schemeClr val="tx1"/>
                </a:solidFill>
                <a:latin typeface="Arial" panose="020B0604020202020204" pitchFamily="34" charset="0"/>
              </a:rPr>
              <a:t>Colab</a:t>
            </a:r>
            <a:r>
              <a:rPr lang="en-US" altLang="en-US" sz="1800" dirty="0">
                <a:solidFill>
                  <a:schemeClr val="tx1"/>
                </a:solidFill>
                <a:latin typeface="Arial" panose="020B0604020202020204" pitchFamily="34" charset="0"/>
              </a:rPr>
              <a:t> – Cloud-based environment for running the project</a:t>
            </a:r>
          </a:p>
          <a:p>
            <a:pPr marL="0" lvl="0" indent="0" defTabSz="914400" eaLnBrk="0" fontAlgn="base" hangingPunct="0">
              <a:lnSpc>
                <a:spcPct val="100000"/>
              </a:lnSpc>
              <a:spcBef>
                <a:spcPct val="0"/>
              </a:spcBef>
              <a:spcAft>
                <a:spcPct val="0"/>
              </a:spcAft>
              <a:buClrTx/>
              <a:buSzTx/>
              <a:buFontTx/>
              <a:buChar char="•"/>
            </a:pPr>
            <a:r>
              <a:rPr lang="en-US" altLang="en-US" sz="1800" dirty="0">
                <a:solidFill>
                  <a:schemeClr val="tx1"/>
                </a:solidFill>
                <a:latin typeface="Arial" panose="020B0604020202020204" pitchFamily="34" charset="0"/>
              </a:rPr>
              <a:t>File handling libraries – </a:t>
            </a:r>
            <a:r>
              <a:rPr lang="en-US" altLang="en-US" sz="1800" dirty="0" err="1">
                <a:solidFill>
                  <a:schemeClr val="tx1"/>
                </a:solidFill>
                <a:latin typeface="Arial" panose="020B0604020202020204" pitchFamily="34" charset="0"/>
              </a:rPr>
              <a:t>openpyxl</a:t>
            </a:r>
            <a:r>
              <a:rPr lang="en-US" altLang="en-US" sz="1800" dirty="0">
                <a:solidFill>
                  <a:schemeClr val="tx1"/>
                </a:solidFill>
                <a:latin typeface="Arial" panose="020B0604020202020204" pitchFamily="34" charset="0"/>
              </a:rPr>
              <a:t> (for Excel) and built-in CSV handling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4A022A0-934F-2E8E-AC92-088DBC8BF884}"/>
              </a:ext>
            </a:extLst>
          </p:cNvPr>
          <p:cNvSpPr>
            <a:spLocks noGrp="1"/>
          </p:cNvSpPr>
          <p:nvPr>
            <p:ph type="pic" sz="quarter" idx="10"/>
          </p:nvPr>
        </p:nvSpPr>
        <p:spPr/>
      </p:sp>
      <p:sp>
        <p:nvSpPr>
          <p:cNvPr id="3" name="Text Placeholder 2">
            <a:extLst>
              <a:ext uri="{FF2B5EF4-FFF2-40B4-BE49-F238E27FC236}">
                <a16:creationId xmlns:a16="http://schemas.microsoft.com/office/drawing/2014/main" id="{BFBAFE8F-4FAC-65FB-115E-149DFAD39867}"/>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7A655413-6F1A-543C-D800-FBC468B0F0CE}"/>
              </a:ext>
            </a:extLst>
          </p:cNvPr>
          <p:cNvPicPr>
            <a:picLocks noChangeAspect="1"/>
          </p:cNvPicPr>
          <p:nvPr/>
        </p:nvPicPr>
        <p:blipFill>
          <a:blip r:embed="rId2"/>
          <a:stretch>
            <a:fillRect/>
          </a:stretch>
        </p:blipFill>
        <p:spPr>
          <a:xfrm>
            <a:off x="0" y="0"/>
            <a:ext cx="12200746" cy="6858000"/>
          </a:xfrm>
          <a:prstGeom prst="rect">
            <a:avLst/>
          </a:prstGeom>
        </p:spPr>
      </p:pic>
    </p:spTree>
    <p:extLst>
      <p:ext uri="{BB962C8B-B14F-4D97-AF65-F5344CB8AC3E}">
        <p14:creationId xmlns:p14="http://schemas.microsoft.com/office/powerpoint/2010/main" val="3927302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8A8DF8-F6CA-0025-8696-2A1B75382DE1}"/>
              </a:ext>
            </a:extLst>
          </p:cNvPr>
          <p:cNvSpPr>
            <a:spLocks noGrp="1"/>
          </p:cNvSpPr>
          <p:nvPr>
            <p:ph type="body" sz="quarter" idx="12"/>
          </p:nvPr>
        </p:nvSpPr>
        <p:spPr/>
        <p:txBody>
          <a:bodyPr/>
          <a:lstStyle/>
          <a:p>
            <a:endParaRPr lang="en-IN" dirty="0"/>
          </a:p>
        </p:txBody>
      </p:sp>
      <p:sp>
        <p:nvSpPr>
          <p:cNvPr id="4" name="Title 3">
            <a:extLst>
              <a:ext uri="{FF2B5EF4-FFF2-40B4-BE49-F238E27FC236}">
                <a16:creationId xmlns:a16="http://schemas.microsoft.com/office/drawing/2014/main" id="{413FBA8B-4709-D581-3C69-013ED1B92499}"/>
              </a:ext>
            </a:extLst>
          </p:cNvPr>
          <p:cNvSpPr>
            <a:spLocks noGrp="1"/>
          </p:cNvSpPr>
          <p:nvPr>
            <p:ph type="title"/>
          </p:nvPr>
        </p:nvSpPr>
        <p:spPr/>
        <p:txBody>
          <a:bodyPr/>
          <a:lstStyle/>
          <a:p>
            <a:r>
              <a:rPr lang="en-IN" dirty="0"/>
              <a:t>PYTHON CODE</a:t>
            </a:r>
          </a:p>
        </p:txBody>
      </p:sp>
      <p:pic>
        <p:nvPicPr>
          <p:cNvPr id="6" name="Picture 5">
            <a:extLst>
              <a:ext uri="{FF2B5EF4-FFF2-40B4-BE49-F238E27FC236}">
                <a16:creationId xmlns:a16="http://schemas.microsoft.com/office/drawing/2014/main" id="{C8458B71-422A-CF21-BF51-CE5729CB247F}"/>
              </a:ext>
            </a:extLst>
          </p:cNvPr>
          <p:cNvPicPr>
            <a:picLocks noChangeAspect="1"/>
          </p:cNvPicPr>
          <p:nvPr/>
        </p:nvPicPr>
        <p:blipFill>
          <a:blip r:embed="rId2"/>
          <a:stretch>
            <a:fillRect/>
          </a:stretch>
        </p:blipFill>
        <p:spPr>
          <a:xfrm>
            <a:off x="0" y="1547776"/>
            <a:ext cx="6640643" cy="5310224"/>
          </a:xfrm>
          <a:prstGeom prst="rect">
            <a:avLst/>
          </a:prstGeom>
        </p:spPr>
      </p:pic>
      <p:pic>
        <p:nvPicPr>
          <p:cNvPr id="10" name="Picture 9">
            <a:extLst>
              <a:ext uri="{FF2B5EF4-FFF2-40B4-BE49-F238E27FC236}">
                <a16:creationId xmlns:a16="http://schemas.microsoft.com/office/drawing/2014/main" id="{7B88E75A-C361-B1A6-5566-06291840E841}"/>
              </a:ext>
            </a:extLst>
          </p:cNvPr>
          <p:cNvPicPr>
            <a:picLocks noChangeAspect="1"/>
          </p:cNvPicPr>
          <p:nvPr/>
        </p:nvPicPr>
        <p:blipFill>
          <a:blip r:embed="rId3"/>
          <a:stretch>
            <a:fillRect/>
          </a:stretch>
        </p:blipFill>
        <p:spPr>
          <a:xfrm>
            <a:off x="6640643" y="1547776"/>
            <a:ext cx="5551357" cy="5310224"/>
          </a:xfrm>
          <a:prstGeom prst="rect">
            <a:avLst/>
          </a:prstGeom>
        </p:spPr>
      </p:pic>
    </p:spTree>
    <p:extLst>
      <p:ext uri="{BB962C8B-B14F-4D97-AF65-F5344CB8AC3E}">
        <p14:creationId xmlns:p14="http://schemas.microsoft.com/office/powerpoint/2010/main" val="1384820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4C0582E5-4270-6A12-A1F1-22D026CBBE88}"/>
              </a:ext>
            </a:extLst>
          </p:cNvPr>
          <p:cNvPicPr>
            <a:picLocks noChangeAspect="1"/>
          </p:cNvPicPr>
          <p:nvPr/>
        </p:nvPicPr>
        <p:blipFill>
          <a:blip r:embed="rId3"/>
          <a:stretch>
            <a:fillRect/>
          </a:stretch>
        </p:blipFill>
        <p:spPr>
          <a:xfrm>
            <a:off x="675956" y="1275371"/>
            <a:ext cx="10341813" cy="546727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65B4E625-C646-2D5D-C6B0-A8640DB36922}"/>
              </a:ext>
            </a:extLst>
          </p:cNvPr>
          <p:cNvPicPr>
            <a:picLocks noChangeAspect="1"/>
          </p:cNvPicPr>
          <p:nvPr/>
        </p:nvPicPr>
        <p:blipFill>
          <a:blip r:embed="rId3"/>
          <a:stretch>
            <a:fillRect/>
          </a:stretch>
        </p:blipFill>
        <p:spPr>
          <a:xfrm>
            <a:off x="0" y="1201586"/>
            <a:ext cx="12192000" cy="5528554"/>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0CF559F8-EA58-E722-B196-0A1FF2F4BB1A}"/>
              </a:ext>
            </a:extLst>
          </p:cNvPr>
          <p:cNvPicPr>
            <a:picLocks noChangeAspect="1"/>
          </p:cNvPicPr>
          <p:nvPr/>
        </p:nvPicPr>
        <p:blipFill>
          <a:blip r:embed="rId3"/>
          <a:stretch>
            <a:fillRect/>
          </a:stretch>
        </p:blipFill>
        <p:spPr>
          <a:xfrm>
            <a:off x="477970" y="1158741"/>
            <a:ext cx="9730331" cy="563193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9760902" cy="2579557"/>
          </a:xfrm>
        </p:spPr>
        <p:txBody>
          <a:bodyPr vert="horz" lIns="91440" tIns="45720" rIns="91440" bIns="45720" rtlCol="0" anchor="t">
            <a:normAutofit/>
          </a:bodyPr>
          <a:lstStyle/>
          <a:p>
            <a:pPr marL="0" indent="0">
              <a:buNone/>
            </a:pPr>
            <a:r>
              <a:rPr lang="en-US" dirty="0"/>
              <a:t>git@github.com:Areeb1471/VOIS_AICTE_Oct2025_MajorProject_AreebSajid.git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2" name="Picture 1">
            <a:extLst>
              <a:ext uri="{FF2B5EF4-FFF2-40B4-BE49-F238E27FC236}">
                <a16:creationId xmlns:a16="http://schemas.microsoft.com/office/drawing/2014/main" id="{E3A653EC-B0E7-2B0A-0F11-EF8694EF4C4F}"/>
              </a:ext>
            </a:extLst>
          </p:cNvPr>
          <p:cNvPicPr>
            <a:picLocks noChangeAspect="1"/>
          </p:cNvPicPr>
          <p:nvPr/>
        </p:nvPicPr>
        <p:blipFill>
          <a:blip r:embed="rId3"/>
          <a:stretch>
            <a:fillRect/>
          </a:stretch>
        </p:blipFill>
        <p:spPr>
          <a:xfrm>
            <a:off x="675957" y="1043033"/>
            <a:ext cx="7973317" cy="5633170"/>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2" name="Picture 1">
            <a:extLst>
              <a:ext uri="{FF2B5EF4-FFF2-40B4-BE49-F238E27FC236}">
                <a16:creationId xmlns:a16="http://schemas.microsoft.com/office/drawing/2014/main" id="{6259712E-67F9-4C8F-1F89-9FEE83C007D5}"/>
              </a:ext>
            </a:extLst>
          </p:cNvPr>
          <p:cNvPicPr>
            <a:picLocks noChangeAspect="1"/>
          </p:cNvPicPr>
          <p:nvPr/>
        </p:nvPicPr>
        <p:blipFill>
          <a:blip r:embed="rId3"/>
          <a:stretch>
            <a:fillRect/>
          </a:stretch>
        </p:blipFill>
        <p:spPr>
          <a:xfrm>
            <a:off x="833043" y="1153270"/>
            <a:ext cx="7515484" cy="5318650"/>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594</TotalTime>
  <Words>456</Words>
  <Application>Microsoft Office PowerPoint</Application>
  <PresentationFormat>Widescreen</PresentationFormat>
  <Paragraphs>35</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Trebuchet MS</vt:lpstr>
      <vt:lpstr>Wingdings</vt:lpstr>
      <vt:lpstr>Wingdings 3</vt:lpstr>
      <vt:lpstr>Facet</vt:lpstr>
      <vt:lpstr>NETFLIX DATA ANALYSIS PROJECT</vt:lpstr>
      <vt:lpstr>PROBLEM  STATEMENT</vt:lpstr>
      <vt:lpstr>PROJECT DESCRIPTION</vt:lpstr>
      <vt:lpstr>Technology Used</vt:lpstr>
      <vt:lpstr>PowerPoint Presentation</vt:lpstr>
      <vt:lpstr>PYTHON CODE</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Areeb Sajid</cp:lastModifiedBy>
  <cp:revision>107</cp:revision>
  <dcterms:created xsi:type="dcterms:W3CDTF">2021-07-11T13:13:15Z</dcterms:created>
  <dcterms:modified xsi:type="dcterms:W3CDTF">2025-10-18T07:40:30Z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